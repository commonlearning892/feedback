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Sheet1!$A$2:$A$7</c:f>
              <c:strCache>
                <c:ptCount val="6"/>
                <c:pt idx="0">
                  <c:v>Academics</c:v>
                </c:pt>
                <c:pt idx="1">
                  <c:v>Administration</c:v>
                </c:pt>
                <c:pt idx="2">
                  <c:v>Environment</c:v>
                </c:pt>
                <c:pt idx="3">
                  <c:v>Infrastructure</c:v>
                </c:pt>
                <c:pt idx="4">
                  <c:v>App</c:v>
                </c:pt>
                <c:pt idx="5">
                  <c:v>Transport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4.31529486798909</c:v>
                </c:pt>
                <c:pt idx="1">
                  <c:v>4.321796281853874</c:v>
                </c:pt>
                <c:pt idx="2">
                  <c:v>4.4761481715462725</c:v>
                </c:pt>
                <c:pt idx="3">
                  <c:v>3.9477280077619663</c:v>
                </c:pt>
                <c:pt idx="4">
                  <c:v>4.4203998014877</c:v>
                </c:pt>
                <c:pt idx="5">
                  <c:v>3.882804674457429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  <c:pt idx="3">
                  <c:v>Not Applicable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42876</c:v>
                </c:pt>
                <c:pt idx="1">
                  <c:v>2994</c:v>
                </c:pt>
                <c:pt idx="2">
                  <c:v>5609</c:v>
                </c:pt>
                <c:pt idx="3">
                  <c:v>0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Sheet1!$A$2:$A$11</c:f>
              <c:strCache>
                <c:ptCount val="10"/>
                <c:pt idx="0">
                  <c:v>Salem 2</c:v>
                </c:pt>
                <c:pt idx="1">
                  <c:v>Coimbatore 4</c:v>
                </c:pt>
                <c:pt idx="2">
                  <c:v>Coimbatore Chetty Street</c:v>
                </c:pt>
                <c:pt idx="3">
                  <c:v>Hosur 3</c:v>
                </c:pt>
                <c:pt idx="4">
                  <c:v>Valasaravakkam</c:v>
                </c:pt>
                <c:pt idx="5">
                  <c:v>Vellore</c:v>
                </c:pt>
                <c:pt idx="6">
                  <c:v>Madurai</c:v>
                </c:pt>
                <c:pt idx="7">
                  <c:v>Tiruppur 2</c:v>
                </c:pt>
                <c:pt idx="8">
                  <c:v>Salem Yercaud Foothills</c:v>
                </c:pt>
                <c:pt idx="9">
                  <c:v>Thanjavur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4.5788796890073105</c:v>
                </c:pt>
                <c:pt idx="1">
                  <c:v>4.566749988643354</c:v>
                </c:pt>
                <c:pt idx="2">
                  <c:v>4.5445643107574805</c:v>
                </c:pt>
                <c:pt idx="3">
                  <c:v>4.537865580963501</c:v>
                </c:pt>
                <c:pt idx="4">
                  <c:v>4.521570170405109</c:v>
                </c:pt>
                <c:pt idx="5">
                  <c:v>4.513047560193372</c:v>
                </c:pt>
                <c:pt idx="6">
                  <c:v>4.447416939450967</c:v>
                </c:pt>
                <c:pt idx="7">
                  <c:v>4.4176247888023905</c:v>
                </c:pt>
                <c:pt idx="8">
                  <c:v>4.415833521022825</c:v>
                </c:pt>
                <c:pt idx="9">
                  <c:v>4.414621038220025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Overall Score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Sheet1!$A$2:$A$11</c:f>
              <c:strCache>
                <c:ptCount val="10"/>
                <c:pt idx="0">
                  <c:v>Salem 2</c:v>
                </c:pt>
                <c:pt idx="1">
                  <c:v>Coimbatore 4</c:v>
                </c:pt>
                <c:pt idx="2">
                  <c:v>Coimbatore Chetty Street</c:v>
                </c:pt>
                <c:pt idx="3">
                  <c:v>Hosur 3</c:v>
                </c:pt>
                <c:pt idx="4">
                  <c:v>Valasaravakkam</c:v>
                </c:pt>
                <c:pt idx="5">
                  <c:v>Vellore</c:v>
                </c:pt>
                <c:pt idx="6">
                  <c:v>Madurai</c:v>
                </c:pt>
                <c:pt idx="7">
                  <c:v>Tiruppur 2</c:v>
                </c:pt>
                <c:pt idx="8">
                  <c:v>Salem Yercaud Foothills</c:v>
                </c:pt>
                <c:pt idx="9">
                  <c:v>Thanjavur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4.5788796890073105</c:v>
                </c:pt>
                <c:pt idx="1">
                  <c:v>4.566749988643354</c:v>
                </c:pt>
                <c:pt idx="2">
                  <c:v>4.5445643107574805</c:v>
                </c:pt>
                <c:pt idx="3">
                  <c:v>4.537865580963501</c:v>
                </c:pt>
                <c:pt idx="4">
                  <c:v>4.521570170405109</c:v>
                </c:pt>
                <c:pt idx="5">
                  <c:v>4.513047560193372</c:v>
                </c:pt>
                <c:pt idx="6">
                  <c:v>4.447416939450967</c:v>
                </c:pt>
                <c:pt idx="7">
                  <c:v>4.4176247888023905</c:v>
                </c:pt>
                <c:pt idx="8">
                  <c:v>4.415833521022825</c:v>
                </c:pt>
                <c:pt idx="9">
                  <c:v>4.414621038220025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Yes %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Sheet1!$A$2:$A$16</c:f>
              <c:strCache>
                <c:ptCount val="15"/>
                <c:pt idx="0">
                  <c:v>Coimbatore Kalapatti</c:v>
                </c:pt>
                <c:pt idx="1">
                  <c:v>Valasaravakkam</c:v>
                </c:pt>
                <c:pt idx="2">
                  <c:v>Coimbatore Chetty Street</c:v>
                </c:pt>
                <c:pt idx="3">
                  <c:v>Salem 2</c:v>
                </c:pt>
                <c:pt idx="4">
                  <c:v>Coimbatore 4</c:v>
                </c:pt>
                <c:pt idx="5">
                  <c:v>Vellore</c:v>
                </c:pt>
                <c:pt idx="6">
                  <c:v>Salem Yercaud Foothills</c:v>
                </c:pt>
                <c:pt idx="7">
                  <c:v>Hosur 3</c:v>
                </c:pt>
                <c:pt idx="8">
                  <c:v>Madurai</c:v>
                </c:pt>
                <c:pt idx="9">
                  <c:v>Tiruppur 2</c:v>
                </c:pt>
                <c:pt idx="10">
                  <c:v>Coimbatore 6</c:v>
                </c:pt>
                <c:pt idx="11">
                  <c:v>Coimbatore 2</c:v>
                </c:pt>
                <c:pt idx="12">
                  <c:v>Palavakkam</c:v>
                </c:pt>
                <c:pt idx="13">
                  <c:v>Padur</c:v>
                </c:pt>
                <c:pt idx="14">
                  <c:v>Thanjavur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95.16616314199395</c:v>
                </c:pt>
                <c:pt idx="1">
                  <c:v>94.83870967741936</c:v>
                </c:pt>
                <c:pt idx="2">
                  <c:v>92.619926199262</c:v>
                </c:pt>
                <c:pt idx="3">
                  <c:v>91.74917491749174</c:v>
                </c:pt>
                <c:pt idx="4">
                  <c:v>91.1487758945386</c:v>
                </c:pt>
                <c:pt idx="5">
                  <c:v>90.92682926829269</c:v>
                </c:pt>
                <c:pt idx="6">
                  <c:v>90.8284023668639</c:v>
                </c:pt>
                <c:pt idx="7">
                  <c:v>89.24349881796691</c:v>
                </c:pt>
                <c:pt idx="8">
                  <c:v>88.20960698689956</c:v>
                </c:pt>
                <c:pt idx="9">
                  <c:v>88.1578947368421</c:v>
                </c:pt>
                <c:pt idx="10">
                  <c:v>88.09523809523809</c:v>
                </c:pt>
                <c:pt idx="11">
                  <c:v>87.97043010752688</c:v>
                </c:pt>
                <c:pt idx="12">
                  <c:v>86.87050359712231</c:v>
                </c:pt>
                <c:pt idx="13">
                  <c:v>86.46986469864699</c:v>
                </c:pt>
                <c:pt idx="14">
                  <c:v>86.33288227334236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Branches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Sheet1!$A$2:$A$49</c:f>
              <c:numCache>
                <c:formatCode>General</c:formatCode>
                <c:ptCount val="48"/>
                <c:pt idx="0">
                  <c:v>4.31628170289855</c:v>
                </c:pt>
                <c:pt idx="1">
                  <c:v>4.361550240026485</c:v>
                </c:pt>
                <c:pt idx="2">
                  <c:v>4.533490326545882</c:v>
                </c:pt>
                <c:pt idx="3">
                  <c:v>4.336110762406896</c:v>
                </c:pt>
                <c:pt idx="4">
                  <c:v>4.4467110795753175</c:v>
                </c:pt>
                <c:pt idx="5">
                  <c:v>4.228676809589673</c:v>
                </c:pt>
                <c:pt idx="6">
                  <c:v>4.280527578996967</c:v>
                </c:pt>
                <c:pt idx="7">
                  <c:v>4.363673383204634</c:v>
                </c:pt>
                <c:pt idx="8">
                  <c:v>4.390558059452069</c:v>
                </c:pt>
                <c:pt idx="9">
                  <c:v>4.499907201187824</c:v>
                </c:pt>
                <c:pt idx="10">
                  <c:v>4.1913457809834025</c:v>
                </c:pt>
                <c:pt idx="11">
                  <c:v>4.2987556460898055</c:v>
                </c:pt>
                <c:pt idx="12">
                  <c:v>4.206204333585286</c:v>
                </c:pt>
                <c:pt idx="13">
                  <c:v>4.355529173811722</c:v>
                </c:pt>
                <c:pt idx="14">
                  <c:v>4.26937732560878</c:v>
                </c:pt>
                <c:pt idx="15">
                  <c:v>4.189044213263979</c:v>
                </c:pt>
                <c:pt idx="16">
                  <c:v>4.3621610616077415</c:v>
                </c:pt>
                <c:pt idx="17">
                  <c:v>4.28594450880789</c:v>
                </c:pt>
                <c:pt idx="18">
                  <c:v>4.342082885785894</c:v>
                </c:pt>
                <c:pt idx="19">
                  <c:v>4.286168280871671</c:v>
                </c:pt>
                <c:pt idx="20">
                  <c:v>4.212122785160576</c:v>
                </c:pt>
                <c:pt idx="21">
                  <c:v>4.367577417067213</c:v>
                </c:pt>
                <c:pt idx="22">
                  <c:v>4.282138848805515</c:v>
                </c:pt>
                <c:pt idx="23">
                  <c:v>4.349892299407646</c:v>
                </c:pt>
                <c:pt idx="24">
                  <c:v>4.337361878453039</c:v>
                </c:pt>
                <c:pt idx="25">
                  <c:v>4.212115654991137</c:v>
                </c:pt>
                <c:pt idx="26">
                  <c:v>4.285722194103505</c:v>
                </c:pt>
                <c:pt idx="27">
                  <c:v>4.19149299244719</c:v>
                </c:pt>
                <c:pt idx="28">
                  <c:v>4.298823469749987</c:v>
                </c:pt>
                <c:pt idx="29">
                  <c:v>4.409695318805488</c:v>
                </c:pt>
                <c:pt idx="30">
                  <c:v>4.380726354115529</c:v>
                </c:pt>
                <c:pt idx="31">
                  <c:v>4.279732473953735</c:v>
                </c:pt>
                <c:pt idx="32">
                  <c:v>4.255525265800006</c:v>
                </c:pt>
                <c:pt idx="33">
                  <c:v>4.542820286009141</c:v>
                </c:pt>
                <c:pt idx="34">
                  <c:v>4.3847600397861495</c:v>
                </c:pt>
                <c:pt idx="35">
                  <c:v>4.248050725936547</c:v>
                </c:pt>
                <c:pt idx="36">
                  <c:v>4.373869509043927</c:v>
                </c:pt>
                <c:pt idx="37">
                  <c:v>4.348593328840971</c:v>
                </c:pt>
                <c:pt idx="38">
                  <c:v>4.268092937658156</c:v>
                </c:pt>
                <c:pt idx="39">
                  <c:v>4.298629829290206</c:v>
                </c:pt>
                <c:pt idx="40">
                  <c:v>4.131599654787288</c:v>
                </c:pt>
                <c:pt idx="41">
                  <c:v>4.362844371465061</c:v>
                </c:pt>
                <c:pt idx="42">
                  <c:v>4.334825937950939</c:v>
                </c:pt>
                <c:pt idx="43">
                  <c:v>4.344193951588318</c:v>
                </c:pt>
                <c:pt idx="44">
                  <c:v>4.4526748971193415</c:v>
                </c:pt>
                <c:pt idx="45">
                  <c:v>4.162248455867703</c:v>
                </c:pt>
                <c:pt idx="46">
                  <c:v>4.444255736714975</c:v>
                </c:pt>
                <c:pt idx="47">
                  <c:v>4.267624351720887</c:v>
                </c:pt>
              </c:numCache>
            </c:numRef>
          </c:xVal>
          <c:yVal>
            <c:numRef>
              <c:f>Sheet1!$B$2:$B$49</c:f>
              <c:numCache>
                <c:formatCode>General</c:formatCode>
                <c:ptCount val="48"/>
                <c:pt idx="0">
                  <c:v>3.7797288971041283</c:v>
                </c:pt>
                <c:pt idx="1">
                  <c:v>3.9157036029911625</c:v>
                </c:pt>
                <c:pt idx="2">
                  <c:v>4.185752330226365</c:v>
                </c:pt>
                <c:pt idx="3">
                  <c:v>4.109080188679245</c:v>
                </c:pt>
                <c:pt idx="4">
                  <c:v>4.431888544891641</c:v>
                </c:pt>
                <c:pt idx="5">
                  <c:v>4.222756410256411</c:v>
                </c:pt>
                <c:pt idx="6">
                  <c:v>3.8264771877337322</c:v>
                </c:pt>
                <c:pt idx="7">
                  <c:v>3.9063809967396366</c:v>
                </c:pt>
                <c:pt idx="8">
                  <c:v>3.9012184508268057</c:v>
                </c:pt>
                <c:pt idx="9">
                  <c:v>4.531853281853282</c:v>
                </c:pt>
                <c:pt idx="10">
                  <c:v>3.700884086444008</c:v>
                </c:pt>
                <c:pt idx="11">
                  <c:v>3.835003579098067</c:v>
                </c:pt>
                <c:pt idx="12">
                  <c:v>3.87595818815331</c:v>
                </c:pt>
                <c:pt idx="13">
                  <c:v>3.8294930875576036</c:v>
                </c:pt>
                <c:pt idx="14">
                  <c:v>4.026957637997433</c:v>
                </c:pt>
                <c:pt idx="15">
                  <c:v>3.9888</c:v>
                </c:pt>
                <c:pt idx="16">
                  <c:v>4.315186246418338</c:v>
                </c:pt>
                <c:pt idx="17">
                  <c:v>3.939969604863222</c:v>
                </c:pt>
                <c:pt idx="18">
                  <c:v>4.042959427207637</c:v>
                </c:pt>
                <c:pt idx="19">
                  <c:v>3.883431952662722</c:v>
                </c:pt>
                <c:pt idx="20">
                  <c:v>4.166103603603603</c:v>
                </c:pt>
                <c:pt idx="21">
                  <c:v>3.9764595103578153</c:v>
                </c:pt>
                <c:pt idx="22">
                  <c:v>3.9575799721835883</c:v>
                </c:pt>
                <c:pt idx="23">
                  <c:v>4.153919694072658</c:v>
                </c:pt>
                <c:pt idx="24">
                  <c:v>4.101254480286738</c:v>
                </c:pt>
                <c:pt idx="25">
                  <c:v>3.550956937799043</c:v>
                </c:pt>
                <c:pt idx="26">
                  <c:v>3.586793396698349</c:v>
                </c:pt>
                <c:pt idx="27">
                  <c:v>3.7300204918032787</c:v>
                </c:pt>
                <c:pt idx="28">
                  <c:v>4.1957908163265305</c:v>
                </c:pt>
                <c:pt idx="29">
                  <c:v>3.771198830409357</c:v>
                </c:pt>
                <c:pt idx="30">
                  <c:v>3.9676015473887816</c:v>
                </c:pt>
                <c:pt idx="31">
                  <c:v>4.111111111111111</c:v>
                </c:pt>
                <c:pt idx="32">
                  <c:v>3.95254936634247</c:v>
                </c:pt>
                <c:pt idx="33">
                  <c:v>4.225409836065574</c:v>
                </c:pt>
                <c:pt idx="34">
                  <c:v>4.039184952978056</c:v>
                </c:pt>
                <c:pt idx="35">
                  <c:v>3.7491610738255035</c:v>
                </c:pt>
                <c:pt idx="36">
                  <c:v>4.0</c:v>
                </c:pt>
                <c:pt idx="37">
                  <c:v>4.153901734104046</c:v>
                </c:pt>
                <c:pt idx="38">
                  <c:v>3.888888888888889</c:v>
                </c:pt>
                <c:pt idx="39">
                  <c:v>4.184121621621622</c:v>
                </c:pt>
                <c:pt idx="40">
                  <c:v>4.05524861878453</c:v>
                </c:pt>
                <c:pt idx="41">
                  <c:v>3.6799116997792494</c:v>
                </c:pt>
                <c:pt idx="42">
                  <c:v>4.103992571959146</c:v>
                </c:pt>
                <c:pt idx="43">
                  <c:v>4.107993850883935</c:v>
                </c:pt>
                <c:pt idx="44">
                  <c:v>4.4573170731707314</c:v>
                </c:pt>
                <c:pt idx="45">
                  <c:v>3.931862745098039</c:v>
                </c:pt>
                <c:pt idx="46">
                  <c:v>4.397095959595959</c:v>
                </c:pt>
                <c:pt idx="47">
                  <c:v>3.8482849604221636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Average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Sheet1!$A$2:$A$17</c:f>
              <c:strCache>
                <c:ptCount val="16"/>
                <c:pt idx="0">
                  <c:v>I Language</c:v>
                </c:pt>
                <c:pt idx="1">
                  <c:v>II Language</c:v>
                </c:pt>
                <c:pt idx="2">
                  <c:v>III Language</c:v>
                </c:pt>
                <c:pt idx="3">
                  <c:v>Mathematics</c:v>
                </c:pt>
                <c:pt idx="4">
                  <c:v>General Science</c:v>
                </c:pt>
                <c:pt idx="5">
                  <c:v>Social Studies</c:v>
                </c:pt>
                <c:pt idx="6">
                  <c:v>Subject Wise Feedback</c:v>
                </c:pt>
                <c:pt idx="7">
                  <c:v>Subject Wise Feedback.1</c:v>
                </c:pt>
                <c:pt idx="8">
                  <c:v>Subject Wise Feedback.2</c:v>
                </c:pt>
                <c:pt idx="9">
                  <c:v>Subject Wise Feedback.3</c:v>
                </c:pt>
                <c:pt idx="10">
                  <c:v>I Language 2</c:v>
                </c:pt>
                <c:pt idx="11">
                  <c:v>II Language 2</c:v>
                </c:pt>
                <c:pt idx="12">
                  <c:v>Physics</c:v>
                </c:pt>
                <c:pt idx="13">
                  <c:v>Chemistry</c:v>
                </c:pt>
                <c:pt idx="14">
                  <c:v>Biology</c:v>
                </c:pt>
                <c:pt idx="15">
                  <c:v>Social Studies 2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4.418754107938363</c:v>
                </c:pt>
                <c:pt idx="1">
                  <c:v>4.208500693785146</c:v>
                </c:pt>
                <c:pt idx="2">
                  <c:v>4.00553141050968</c:v>
                </c:pt>
                <c:pt idx="3">
                  <c:v>4.296709150455747</c:v>
                </c:pt>
                <c:pt idx="4">
                  <c:v>4.398780398743884</c:v>
                </c:pt>
                <c:pt idx="5">
                  <c:v>4.408055210691594</c:v>
                </c:pt>
                <c:pt idx="6">
                  <c:v>4.572360205355904</c:v>
                </c:pt>
                <c:pt idx="7">
                  <c:v>4.584786053882726</c:v>
                </c:pt>
                <c:pt idx="8">
                  <c:v>4.531004366812227</c:v>
                </c:pt>
                <c:pt idx="9">
                  <c:v>4.238500260371463</c:v>
                </c:pt>
                <c:pt idx="10">
                  <c:v>4.353178822028492</c:v>
                </c:pt>
                <c:pt idx="11">
                  <c:v>4.192881794650561</c:v>
                </c:pt>
                <c:pt idx="12">
                  <c:v>4.236200701329062</c:v>
                </c:pt>
                <c:pt idx="13">
                  <c:v>4.265373432278783</c:v>
                </c:pt>
                <c:pt idx="14">
                  <c:v>4.321253630413109</c:v>
                </c:pt>
                <c:pt idx="15">
                  <c:v>4.142588626131048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Sheet1!$A$2:$A$5</c:f>
              <c:strCache>
                <c:ptCount val="4"/>
                <c:pt idx="0">
                  <c:v>Concept Clarity</c:v>
                </c:pt>
                <c:pt idx="1">
                  <c:v>Teacher Approachability</c:v>
                </c:pt>
                <c:pt idx="2">
                  <c:v>Engagement</c:v>
                </c:pt>
                <c:pt idx="3">
                  <c:v>Communication Skills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4.257543961212823</c:v>
                </c:pt>
                <c:pt idx="1">
                  <c:v>4.402281850834566</c:v>
                </c:pt>
                <c:pt idx="2">
                  <c:v>4.322082449596528</c:v>
                </c:pt>
                <c:pt idx="3">
                  <c:v>4.171935703632782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PTM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Effective</c:v>
                </c:pt>
                <c:pt idx="1">
                  <c:v>Gap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4.361234024161847</c:v>
                </c:pt>
                <c:pt idx="1">
                  <c:v>0.6387659758381528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Sheet1!$A$2:$A$4</c:f>
              <c:strCache>
                <c:ptCount val="3"/>
                <c:pt idx="0">
                  <c:v>Leadership Access</c:v>
                </c:pt>
                <c:pt idx="1">
                  <c:v>Front Office Support</c:v>
                </c:pt>
                <c:pt idx="2">
                  <c:v>App Usability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4.461181715230716</c:v>
                </c:pt>
                <c:pt idx="1">
                  <c:v>4.46882698159687</c:v>
                </c:pt>
                <c:pt idx="2">
                  <c:v>4.2959329710144925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Sheet1!$A$2:$A$8</c:f>
              <c:strCache>
                <c:ptCount val="7"/>
                <c:pt idx="0">
                  <c:v>It is easy to get appoint</c:v>
                </c:pt>
                <c:pt idx="1">
                  <c:v>The Front Office team rec</c:v>
                </c:pt>
                <c:pt idx="2">
                  <c:v>Principal</c:v>
                </c:pt>
                <c:pt idx="3">
                  <c:v>Vice Principal</c:v>
                </c:pt>
                <c:pt idx="4">
                  <c:v>Academic Coordinator</c:v>
                </c:pt>
                <c:pt idx="5">
                  <c:v>Admin Team</c:v>
                </c:pt>
                <c:pt idx="6">
                  <c:v>Administration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4.398062083479481</c:v>
                </c:pt>
                <c:pt idx="1">
                  <c:v>4.416042875492758</c:v>
                </c:pt>
                <c:pt idx="2">
                  <c:v>4.430287883885231</c:v>
                </c:pt>
                <c:pt idx="3">
                  <c:v>4.387235810354676</c:v>
                </c:pt>
                <c:pt idx="4">
                  <c:v>4.397199981270778</c:v>
                </c:pt>
                <c:pt idx="5">
                  <c:v>4.307190443372387</c:v>
                </c:pt>
                <c:pt idx="6">
                  <c:v>4.099907717713342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Yes</c:v>
                </c:pt>
                <c:pt idx="1">
                  <c:v>No</c:v>
                </c:pt>
                <c:pt idx="2">
                  <c:v>Not Applicable</c:v>
                </c:pt>
                <c:pt idx="3">
                  <c:v>Maybe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36563</c:v>
                </c:pt>
                <c:pt idx="1">
                  <c:v>22048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2196F3"/>
            </a:solidFill>
          </c:spPr>
          <c:cat>
            <c:strRef>
              <c:f>Sheet1!$A$2:$A$5</c:f>
              <c:strCache>
                <c:ptCount val="4"/>
                <c:pt idx="0">
                  <c:v>The safety measures imple</c:v>
                </c:pt>
                <c:pt idx="1">
                  <c:v>The school offers adequat</c:v>
                </c:pt>
                <c:pt idx="2">
                  <c:v>Campus hygiene and genera</c:v>
                </c:pt>
                <c:pt idx="3">
                  <c:v>The school provides adequ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4.240696443276734</c:v>
                </c:pt>
                <c:pt idx="1">
                  <c:v>4.190962656871748</c:v>
                </c:pt>
                <c:pt idx="2">
                  <c:v>3.7637713771377137</c:v>
                </c:pt>
                <c:pt idx="3">
                  <c:v>3.3694854627166837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Relationship Id="rId10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7.xml"/><Relationship Id="rId4" Type="http://schemas.openxmlformats.org/officeDocument/2006/relationships/slide" Target="slide9.xml"/><Relationship Id="rId5" Type="http://schemas.openxmlformats.org/officeDocument/2006/relationships/slide" Target="slide10.xml"/><Relationship Id="rId6" Type="http://schemas.openxmlformats.org/officeDocument/2006/relationships/slide" Target="slide12.xml"/><Relationship Id="rId7" Type="http://schemas.openxmlformats.org/officeDocument/2006/relationships/slide" Target="slide13.xml"/><Relationship Id="rId8" Type="http://schemas.openxmlformats.org/officeDocument/2006/relationships/slide" Target="slide4.xml"/><Relationship Id="rId9" Type="http://schemas.openxmlformats.org/officeDocument/2006/relationships/slide" Target="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7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2.xml"/><Relationship Id="rId11" Type="http://schemas.openxmlformats.org/officeDocument/2006/relationships/slide" Target="slide13.xml"/><Relationship Id="rId12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7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7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3.xml"/><Relationship Id="rId9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F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richaitany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4408714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D700"/>
                </a:solidFill>
              </a:defRPr>
            </a:pPr>
            <a:r>
              <a:t>Pre-Primary Sri Chaitanya Techno Schools – Tamil Nadu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Academic &amp; Administrative Review • Academic Year: 2025–26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10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1F3F"/>
                </a:solidFill>
              </a:defRPr>
            </a:pPr>
            <a:r>
              <a:t>Dashboard Menu</a:t>
            </a:r>
          </a:p>
        </p:txBody>
      </p:sp>
      <p:sp>
        <p:nvSpPr>
          <p:cNvPr id="3" name="Rounded Rectangle 2">
            <a:hlinkClick action="ppaction://hlinksldjump" r:id="rId2"/>
          </p:cNvPr>
          <p:cNvSpPr/>
          <p:nvPr/>
        </p:nvSpPr>
        <p:spPr>
          <a:xfrm>
            <a:off x="731520" y="118872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Executive Summary</a:t>
            </a:r>
          </a:p>
        </p:txBody>
      </p:sp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5120640" y="118872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Academic Quality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731520" y="201168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Environment &amp; Safety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5120640" y="201168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Communication &amp; Administration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731520" y="283464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Infrastructure &amp; Facilities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5120640" y="283464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Strengths &amp; Improvements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731520" y="3657600"/>
            <a:ext cx="3657600" cy="54864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001F3F"/>
                </a:solidFill>
              </a:defRPr>
            </a:pPr>
            <a:r>
              <a:t>Branch Comparison</a:t>
            </a:r>
          </a:p>
        </p:txBody>
      </p:sp>
      <p:sp>
        <p:nvSpPr>
          <p:cNvPr id="10" name="Rounded Rectangle 9">
            <a:hlinkClick action="ppaction://hlinksldjump" r:id="rId2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1F3F"/>
                </a:solidFill>
              </a:defRPr>
            </a:pPr>
            <a:r>
              <a:t>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914400"/>
            <a:ext cx="2011680" cy="1005840"/>
          </a:xfrm>
          <a:prstGeom prst="roundRect">
            <a:avLst/>
          </a:prstGeom>
          <a:solidFill>
            <a:srgbClr val="EE5A6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Total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60255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914400"/>
            <a:ext cx="2011680" cy="1005840"/>
          </a:xfrm>
          <a:prstGeom prst="roundRect">
            <a:avLst/>
          </a:prstGeom>
          <a:solidFill>
            <a:srgbClr val="44A08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Branches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914400"/>
            <a:ext cx="2011680" cy="1005840"/>
          </a:xfrm>
          <a:prstGeom prst="roundRect">
            <a:avLst/>
          </a:prstGeom>
          <a:solidFill>
            <a:srgbClr val="F39C1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914400"/>
            <a:ext cx="2011680" cy="1005840"/>
          </a:xfrm>
          <a:prstGeom prst="roundRect">
            <a:avLst/>
          </a:prstGeom>
          <a:solidFill>
            <a:srgbClr val="341F9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19" y="10972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Orientations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146304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194560"/>
            <a:ext cx="420624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377440"/>
            <a:ext cx="36575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Overall Satisfaction by Category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2743200"/>
          <a:ext cx="3840480" cy="2194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4846320" y="2194560"/>
            <a:ext cx="384048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37744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Recommendation Status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5029200" y="2743200"/>
          <a:ext cx="2011680" cy="2011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223760" y="274320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43A047"/>
                </a:solidFill>
              </a:defRPr>
            </a:pPr>
            <a:r>
              <a:t>Why 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06324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55.6%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333756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15.2%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611879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8.6%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0233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E53935"/>
                </a:solidFill>
              </a:defRPr>
            </a:pPr>
            <a:r>
              <a:t>Why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34340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45.3%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461772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12.7%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892040"/>
            <a:ext cx="1463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Sports 10.9%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03520"/>
            <a:ext cx="82296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Branch-wise Overall Rating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640080" y="5669280"/>
          <a:ext cx="7863840" cy="914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2" name="Rounded Rectangle 31">
            <a:hlinkClick action="ppaction://hlinksldjump" r:id="rId5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34" name="Rounded Rectangle 33">
            <a:hlinkClick action="ppaction://hlinksldjump" r:id="rId7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35" name="Rounded Rectangle 34">
            <a:hlinkClick action="ppaction://hlinksldjump" r:id="rId8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36" name="Rounded Rectangle 35">
            <a:hlinkClick action="ppaction://hlinksldjump" r:id="rId9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37" name="Rounded Rectangle 36">
            <a:hlinkClick action="ppaction://hlinksldjump" r:id="rId10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38" name="Rounded Rectangle 37">
            <a:hlinkClick action="ppaction://hlinksldjump" r:id="rId11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39" name="Rounded Rectangle 38">
            <a:hlinkClick action="ppaction://hlinksldjump" r:id="rId12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40" name="Rounded Rectangle 39">
            <a:hlinkClick action="ppaction://hlinksldjump" r:id="rId5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Top 10 Branches (Overall)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Branch Recommendation %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Academics vs Infrastructure (Branch Scatter)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Subject-wise Performance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8229600" cy="5303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1F3F"/>
                </a:solidFill>
              </a:defRPr>
            </a:pPr>
            <a:r>
              <a:t>Subject-wise Performance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80160"/>
          <a:ext cx="78638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2" name="Rounded Rectangle 11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3" name="Rounded Rectangle 12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4" name="Rounded Rectangle 13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Teaching Indicators &amp; PTM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097280"/>
          <a:ext cx="45720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760720" y="1371600"/>
          <a:ext cx="3474720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2" name="Rounded Rectangle 11">
            <a:hlinkClick action="ppaction://hlinksldjump" r:id="rId11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Environment Quality (Top Metrics)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My child feels secure while being on the school 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18872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4.51/5.0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My child shows interest and enthusiasm about atten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73736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4.42/5.0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Attending school has helped my child develop bette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28600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4.28/5.0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1F3F"/>
                </a:solidFill>
              </a:defRPr>
            </a:pPr>
            <a:r>
              <a:t>Moral values are effectively emphasized in the 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834640"/>
            <a:ext cx="1463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4.20/5.0</a:t>
            </a:r>
          </a:p>
        </p:txBody>
      </p:sp>
      <p:sp>
        <p:nvSpPr>
          <p:cNvPr id="11" name="Rounded Rectangle 10">
            <a:hlinkClick action="ppaction://hlinksldjump" r:id="rId2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9" name="Rounded Rectangle 18">
            <a:hlinkClick action="ppaction://hlinksldjump" r:id="rId2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Communication &amp; Administration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2" name="Rounded Rectangle 11">
            <a:hlinkClick action="ppaction://hlinksldjump" r:id="rId11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Concern Handling &amp; Resolution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097280"/>
          <a:ext cx="3840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Infrastructure &amp; Facilities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5" name="Rounded Rectangle 4">
            <a:hlinkClick action="ppaction://hlinksldjump" r:id="rId4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6" name="Rounded Rectangle 5">
            <a:hlinkClick action="ppaction://hlinksldjump" r:id="rId5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8" name="Rounded Rectangle 7">
            <a:hlinkClick action="ppaction://hlinksldjump" r:id="rId7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9" name="Rounded Rectangle 8">
            <a:hlinkClick action="ppaction://hlinksldjump" r:id="rId8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10" name="Rounded Rectangle 9">
            <a:hlinkClick action="ppaction://hlinksldjump" r:id="rId9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11" name="Rounded Rectangle 10">
            <a:hlinkClick action="ppaction://hlinksldjump" r:id="rId10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1F3F"/>
                </a:solidFill>
              </a:defRPr>
            </a:pPr>
            <a:r>
              <a:t>Strengths &amp;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Top Strengths (Why Yes)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- 55.6%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- 15.2%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- 8.6%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Student Communication - 7.1%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Events &amp; Celebrations - 6.6%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Sports - 3.5%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Transport - 3.3%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097280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Top Improvements (Why No)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5544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Other - 45.3%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874519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Communication - 12.7%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1945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Sports - 10.9%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1460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Student Communication - 10.1%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8346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Discipline &amp; Values - 9.7%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1546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Events &amp; Celebrations - 6.1%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47472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Transport - 3.2%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7947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No Concerns - 2.0%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8046720" y="182880"/>
            <a:ext cx="1097280" cy="45720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/>
            </a:pPr>
            <a:r>
              <a:t>Menu</a:t>
            </a:r>
          </a:p>
        </p:txBody>
      </p:sp>
      <p:sp>
        <p:nvSpPr>
          <p:cNvPr id="21" name="Rounded Rectangle 20">
            <a:hlinkClick action="ppaction://hlinksldjump" r:id="rId3"/>
          </p:cNvPr>
          <p:cNvSpPr/>
          <p:nvPr/>
        </p:nvSpPr>
        <p:spPr>
          <a:xfrm>
            <a:off x="36576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Executive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15544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Academic</a:t>
            </a:r>
          </a:p>
        </p:txBody>
      </p:sp>
      <p:sp>
        <p:nvSpPr>
          <p:cNvPr id="23" name="Rounded Rectangle 22">
            <a:hlinkClick action="ppaction://hlinksldjump" r:id="rId5"/>
          </p:cNvPr>
          <p:cNvSpPr/>
          <p:nvPr/>
        </p:nvSpPr>
        <p:spPr>
          <a:xfrm>
            <a:off x="274320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Environment</a:t>
            </a:r>
          </a:p>
        </p:txBody>
      </p:sp>
      <p:sp>
        <p:nvSpPr>
          <p:cNvPr id="24" name="Rounded Rectangle 23">
            <a:hlinkClick action="ppaction://hlinksldjump" r:id="rId6"/>
          </p:cNvPr>
          <p:cNvSpPr/>
          <p:nvPr/>
        </p:nvSpPr>
        <p:spPr>
          <a:xfrm>
            <a:off x="393192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Communication</a:t>
            </a:r>
          </a:p>
        </p:txBody>
      </p:sp>
      <p:sp>
        <p:nvSpPr>
          <p:cNvPr id="25" name="Rounded Rectangle 24">
            <a:hlinkClick action="ppaction://hlinksldjump" r:id="rId7"/>
          </p:cNvPr>
          <p:cNvSpPr/>
          <p:nvPr/>
        </p:nvSpPr>
        <p:spPr>
          <a:xfrm>
            <a:off x="512064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Infrastructure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09360" y="45720"/>
            <a:ext cx="114300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Strengths</a:t>
            </a:r>
          </a:p>
        </p:txBody>
      </p:sp>
      <p:sp>
        <p:nvSpPr>
          <p:cNvPr id="27" name="Rounded Rectangle 26">
            <a:hlinkClick action="ppaction://hlinksldjump" r:id="rId9"/>
          </p:cNvPr>
          <p:cNvSpPr/>
          <p:nvPr/>
        </p:nvSpPr>
        <p:spPr>
          <a:xfrm>
            <a:off x="7498080" y="45720"/>
            <a:ext cx="1143000" cy="365760"/>
          </a:xfrm>
          <a:prstGeom prst="roundRect">
            <a:avLst/>
          </a:prstGeom>
          <a:solidFill>
            <a:srgbClr val="F0F8FF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001F3F"/>
                </a:solidFill>
              </a:defRPr>
            </a:pPr>
            <a:r>
              <a:t>Branch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8412480" y="45720"/>
            <a:ext cx="731520" cy="365760"/>
          </a:xfrm>
          <a:prstGeom prst="roundRect">
            <a:avLst/>
          </a:prstGeom>
          <a:solidFill>
            <a:srgbClr val="FFD700"/>
          </a:solidFill>
          <a:ln>
            <a:solidFill>
              <a:srgbClr val="001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/>
            </a:pPr>
            <a:r>
              <a:t>Menu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