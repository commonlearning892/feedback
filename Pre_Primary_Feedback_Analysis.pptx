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Sheet1!$A$2:$A$7</c:f>
              <c:strCache>
                <c:ptCount val="6"/>
                <c:pt idx="0">
                  <c:v>Academics</c:v>
                </c:pt>
                <c:pt idx="1">
                  <c:v>Administration</c:v>
                </c:pt>
                <c:pt idx="2">
                  <c:v>Environment</c:v>
                </c:pt>
                <c:pt idx="3">
                  <c:v>Infrastructure</c:v>
                </c:pt>
                <c:pt idx="4">
                  <c:v>App</c:v>
                </c:pt>
                <c:pt idx="5">
                  <c:v>Transport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4.323367263940507</c:v>
                </c:pt>
                <c:pt idx="1">
                  <c:v>4.33689124013398</c:v>
                </c:pt>
                <c:pt idx="2">
                  <c:v>4.425840422814704</c:v>
                </c:pt>
                <c:pt idx="3">
                  <c:v>3.9971569086955956</c:v>
                </c:pt>
                <c:pt idx="4">
                  <c:v>4.429226823445013</c:v>
                </c:pt>
                <c:pt idx="5">
                  <c:v>3.8842192797287787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  <c:pt idx="3">
                  <c:v>Not Applicable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37681</c:v>
                </c:pt>
                <c:pt idx="1">
                  <c:v>2510</c:v>
                </c:pt>
                <c:pt idx="2">
                  <c:v>11113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Salem 2</c:v>
                </c:pt>
                <c:pt idx="1">
                  <c:v>Coimbatore 4</c:v>
                </c:pt>
                <c:pt idx="2">
                  <c:v>Hosur 3</c:v>
                </c:pt>
                <c:pt idx="3">
                  <c:v>Coimbatore Chetty Street</c:v>
                </c:pt>
                <c:pt idx="4">
                  <c:v>Vellore</c:v>
                </c:pt>
                <c:pt idx="5">
                  <c:v>Valasaravakkam</c:v>
                </c:pt>
                <c:pt idx="6">
                  <c:v>Thanjavur</c:v>
                </c:pt>
                <c:pt idx="7">
                  <c:v>Madurai</c:v>
                </c:pt>
                <c:pt idx="8">
                  <c:v>Tiruppur 2</c:v>
                </c:pt>
                <c:pt idx="9">
                  <c:v>Coimbatore 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4.592698114545079</c:v>
                </c:pt>
                <c:pt idx="1">
                  <c:v>4.567689404358762</c:v>
                </c:pt>
                <c:pt idx="2">
                  <c:v>4.5486176987484805</c:v>
                </c:pt>
                <c:pt idx="3">
                  <c:v>4.546401322495105</c:v>
                </c:pt>
                <c:pt idx="4">
                  <c:v>4.518775604068939</c:v>
                </c:pt>
                <c:pt idx="5">
                  <c:v>4.474387468442645</c:v>
                </c:pt>
                <c:pt idx="6">
                  <c:v>4.4234903920678015</c:v>
                </c:pt>
                <c:pt idx="7">
                  <c:v>4.423428975596622</c:v>
                </c:pt>
                <c:pt idx="8">
                  <c:v>4.418338378937039</c:v>
                </c:pt>
                <c:pt idx="9">
                  <c:v>4.413732039431787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Salem 2</c:v>
                </c:pt>
                <c:pt idx="1">
                  <c:v>Coimbatore 4</c:v>
                </c:pt>
                <c:pt idx="2">
                  <c:v>Hosur 3</c:v>
                </c:pt>
                <c:pt idx="3">
                  <c:v>Coimbatore Chetty Street</c:v>
                </c:pt>
                <c:pt idx="4">
                  <c:v>Vellore</c:v>
                </c:pt>
                <c:pt idx="5">
                  <c:v>Valasaravakkam</c:v>
                </c:pt>
                <c:pt idx="6">
                  <c:v>Thanjavur</c:v>
                </c:pt>
                <c:pt idx="7">
                  <c:v>Madurai</c:v>
                </c:pt>
                <c:pt idx="8">
                  <c:v>Tiruppur 2</c:v>
                </c:pt>
                <c:pt idx="9">
                  <c:v>Coimbatore 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4.592698114545079</c:v>
                </c:pt>
                <c:pt idx="1">
                  <c:v>4.567689404358762</c:v>
                </c:pt>
                <c:pt idx="2">
                  <c:v>4.5486176987484805</c:v>
                </c:pt>
                <c:pt idx="3">
                  <c:v>4.546401322495105</c:v>
                </c:pt>
                <c:pt idx="4">
                  <c:v>4.518775604068939</c:v>
                </c:pt>
                <c:pt idx="5">
                  <c:v>4.474387468442645</c:v>
                </c:pt>
                <c:pt idx="6">
                  <c:v>4.4234903920678015</c:v>
                </c:pt>
                <c:pt idx="7">
                  <c:v>4.423428975596622</c:v>
                </c:pt>
                <c:pt idx="8">
                  <c:v>4.418338378937039</c:v>
                </c:pt>
                <c:pt idx="9">
                  <c:v>4.413732039431787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Yes %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Sheet1!$A$2:$A$16</c:f>
              <c:strCache>
                <c:ptCount val="15"/>
                <c:pt idx="0">
                  <c:v>Valasaravakkam</c:v>
                </c:pt>
                <c:pt idx="1">
                  <c:v>Salem 2</c:v>
                </c:pt>
                <c:pt idx="2">
                  <c:v>Hosur 3</c:v>
                </c:pt>
                <c:pt idx="3">
                  <c:v>Vellore</c:v>
                </c:pt>
                <c:pt idx="4">
                  <c:v>Coimbatore Chetty Street</c:v>
                </c:pt>
                <c:pt idx="5">
                  <c:v>Coimbatore 4</c:v>
                </c:pt>
                <c:pt idx="6">
                  <c:v>Salem Yercaud Foothills</c:v>
                </c:pt>
                <c:pt idx="7">
                  <c:v>Madurai</c:v>
                </c:pt>
                <c:pt idx="8">
                  <c:v>Coimbatore Kalapatti</c:v>
                </c:pt>
                <c:pt idx="9">
                  <c:v>Padur</c:v>
                </c:pt>
                <c:pt idx="10">
                  <c:v>Coimbatore 6</c:v>
                </c:pt>
                <c:pt idx="11">
                  <c:v>Thoraipakkam</c:v>
                </c:pt>
                <c:pt idx="12">
                  <c:v>Pollachi</c:v>
                </c:pt>
                <c:pt idx="13">
                  <c:v>Moolakadai</c:v>
                </c:pt>
                <c:pt idx="14">
                  <c:v>Coimbatore 2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86.53846153846155</c:v>
                </c:pt>
                <c:pt idx="1">
                  <c:v>86.51315789473685</c:v>
                </c:pt>
                <c:pt idx="2">
                  <c:v>85.76429404900817</c:v>
                </c:pt>
                <c:pt idx="3">
                  <c:v>85.18164435946463</c:v>
                </c:pt>
                <c:pt idx="4">
                  <c:v>84.4769403824522</c:v>
                </c:pt>
                <c:pt idx="5">
                  <c:v>83.10344827586206</c:v>
                </c:pt>
                <c:pt idx="6">
                  <c:v>81.84523809523809</c:v>
                </c:pt>
                <c:pt idx="7">
                  <c:v>80.66825775656325</c:v>
                </c:pt>
                <c:pt idx="8">
                  <c:v>80.36649214659685</c:v>
                </c:pt>
                <c:pt idx="9">
                  <c:v>80.0</c:v>
                </c:pt>
                <c:pt idx="10">
                  <c:v>79.22661870503596</c:v>
                </c:pt>
                <c:pt idx="11">
                  <c:v>78.56093979441997</c:v>
                </c:pt>
                <c:pt idx="12">
                  <c:v>78.06451612903226</c:v>
                </c:pt>
                <c:pt idx="13">
                  <c:v>77.55511022044088</c:v>
                </c:pt>
                <c:pt idx="14">
                  <c:v>77.22122838401908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Branches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Sheet1!$A$2:$A$49</c:f>
              <c:numCache>
                <c:formatCode>General</c:formatCode>
                <c:ptCount val="48"/>
                <c:pt idx="0">
                  <c:v>4.3149211666799605</c:v>
                </c:pt>
                <c:pt idx="1">
                  <c:v>4.361278489134377</c:v>
                </c:pt>
                <c:pt idx="2">
                  <c:v>4.5343392655822194</c:v>
                </c:pt>
                <c:pt idx="3">
                  <c:v>4.344600909052291</c:v>
                </c:pt>
                <c:pt idx="4">
                  <c:v>4.449302589252755</c:v>
                </c:pt>
                <c:pt idx="5">
                  <c:v>4.231185481185481</c:v>
                </c:pt>
                <c:pt idx="6">
                  <c:v>4.28173585020923</c:v>
                </c:pt>
                <c:pt idx="7">
                  <c:v>4.3378025194710155</c:v>
                </c:pt>
                <c:pt idx="8">
                  <c:v>4.3964744801512285</c:v>
                </c:pt>
                <c:pt idx="9">
                  <c:v>4.513137706175681</c:v>
                </c:pt>
                <c:pt idx="10">
                  <c:v>4.220191600709312</c:v>
                </c:pt>
                <c:pt idx="11">
                  <c:v>4.301421441939222</c:v>
                </c:pt>
                <c:pt idx="12">
                  <c:v>4.225795361247948</c:v>
                </c:pt>
                <c:pt idx="13">
                  <c:v>4.358082880974448</c:v>
                </c:pt>
                <c:pt idx="14">
                  <c:v>4.279690013159819</c:v>
                </c:pt>
                <c:pt idx="15">
                  <c:v>4.195614035087719</c:v>
                </c:pt>
                <c:pt idx="16">
                  <c:v>4.324172576832152</c:v>
                </c:pt>
                <c:pt idx="17">
                  <c:v>4.325853843410023</c:v>
                </c:pt>
                <c:pt idx="18">
                  <c:v>4.359382366808109</c:v>
                </c:pt>
                <c:pt idx="19">
                  <c:v>4.289209726443769</c:v>
                </c:pt>
                <c:pt idx="20">
                  <c:v>4.219739128392974</c:v>
                </c:pt>
                <c:pt idx="21">
                  <c:v>4.367681225356384</c:v>
                </c:pt>
                <c:pt idx="22">
                  <c:v>4.294391687310762</c:v>
                </c:pt>
                <c:pt idx="23">
                  <c:v>4.253773731714908</c:v>
                </c:pt>
                <c:pt idx="24">
                  <c:v>4.331427845528455</c:v>
                </c:pt>
                <c:pt idx="25">
                  <c:v>4.225856999426276</c:v>
                </c:pt>
                <c:pt idx="26">
                  <c:v>4.294804355850868</c:v>
                </c:pt>
                <c:pt idx="27">
                  <c:v>4.180439725439726</c:v>
                </c:pt>
                <c:pt idx="28">
                  <c:v>4.301171377641966</c:v>
                </c:pt>
                <c:pt idx="29">
                  <c:v>4.412705409619767</c:v>
                </c:pt>
                <c:pt idx="30">
                  <c:v>4.390756718528996</c:v>
                </c:pt>
                <c:pt idx="31">
                  <c:v>4.274594629237966</c:v>
                </c:pt>
                <c:pt idx="32">
                  <c:v>4.2811936228235785</c:v>
                </c:pt>
                <c:pt idx="33">
                  <c:v>4.549302944862156</c:v>
                </c:pt>
                <c:pt idx="34">
                  <c:v>4.383182328978789</c:v>
                </c:pt>
                <c:pt idx="35">
                  <c:v>4.221984805318139</c:v>
                </c:pt>
                <c:pt idx="36">
                  <c:v>4.373657521616706</c:v>
                </c:pt>
                <c:pt idx="37">
                  <c:v>4.361560302086937</c:v>
                </c:pt>
                <c:pt idx="38">
                  <c:v>4.274744784731469</c:v>
                </c:pt>
                <c:pt idx="39">
                  <c:v>4.292088760250844</c:v>
                </c:pt>
                <c:pt idx="40">
                  <c:v>4.115274983232729</c:v>
                </c:pt>
                <c:pt idx="41">
                  <c:v>4.361571198527721</c:v>
                </c:pt>
                <c:pt idx="42">
                  <c:v>4.336230188952961</c:v>
                </c:pt>
                <c:pt idx="43">
                  <c:v>4.335554430949167</c:v>
                </c:pt>
                <c:pt idx="44">
                  <c:v>4.447115384615384</c:v>
                </c:pt>
                <c:pt idx="45">
                  <c:v>4.20956670956671</c:v>
                </c:pt>
                <c:pt idx="46">
                  <c:v>4.449965986394558</c:v>
                </c:pt>
                <c:pt idx="47">
                  <c:v>4.262723591974861</c:v>
                </c:pt>
              </c:numCache>
            </c:numRef>
          </c:xVal>
          <c:yVal>
            <c:numRef>
              <c:f>Sheet1!$B$2:$B$49</c:f>
              <c:numCache>
                <c:formatCode>General</c:formatCode>
                <c:ptCount val="48"/>
                <c:pt idx="0">
                  <c:v>3.8302083333333337</c:v>
                </c:pt>
                <c:pt idx="1">
                  <c:v>3.962929835022858</c:v>
                </c:pt>
                <c:pt idx="2">
                  <c:v>4.21790860826697</c:v>
                </c:pt>
                <c:pt idx="3">
                  <c:v>4.1444193061840116</c:v>
                </c:pt>
                <c:pt idx="4">
                  <c:v>4.443917410714286</c:v>
                </c:pt>
                <c:pt idx="5">
                  <c:v>4.1758345086976965</c:v>
                </c:pt>
                <c:pt idx="6">
                  <c:v>3.9083604777415855</c:v>
                </c:pt>
                <c:pt idx="7">
                  <c:v>3.925219667227519</c:v>
                </c:pt>
                <c:pt idx="8">
                  <c:v>4.025611175785797</c:v>
                </c:pt>
                <c:pt idx="9">
                  <c:v>4.384237421383648</c:v>
                </c:pt>
                <c:pt idx="10">
                  <c:v>3.7928966789667897</c:v>
                </c:pt>
                <c:pt idx="11">
                  <c:v>3.9571398260131554</c:v>
                </c:pt>
                <c:pt idx="12">
                  <c:v>3.702424242424243</c:v>
                </c:pt>
                <c:pt idx="13">
                  <c:v>3.8534401508011307</c:v>
                </c:pt>
                <c:pt idx="14">
                  <c:v>4.132208157524613</c:v>
                </c:pt>
                <c:pt idx="15">
                  <c:v>4.080309139784946</c:v>
                </c:pt>
                <c:pt idx="16">
                  <c:v>4.243589743589744</c:v>
                </c:pt>
                <c:pt idx="17">
                  <c:v>3.965869218500797</c:v>
                </c:pt>
                <c:pt idx="18">
                  <c:v>4.004742547425474</c:v>
                </c:pt>
                <c:pt idx="19">
                  <c:v>3.9515441959531414</c:v>
                </c:pt>
                <c:pt idx="20">
                  <c:v>4.249242424242424</c:v>
                </c:pt>
                <c:pt idx="21">
                  <c:v>4.056578380706288</c:v>
                </c:pt>
                <c:pt idx="22">
                  <c:v>3.860989278752437</c:v>
                </c:pt>
                <c:pt idx="23">
                  <c:v>3.8616557734204795</c:v>
                </c:pt>
                <c:pt idx="24">
                  <c:v>3.903453689167975</c:v>
                </c:pt>
                <c:pt idx="25">
                  <c:v>3.6888990638990635</c:v>
                </c:pt>
                <c:pt idx="26">
                  <c:v>3.6685941601049867</c:v>
                </c:pt>
                <c:pt idx="27">
                  <c:v>3.821373811714198</c:v>
                </c:pt>
                <c:pt idx="28">
                  <c:v>4.199910394265233</c:v>
                </c:pt>
                <c:pt idx="29">
                  <c:v>3.8281786941580753</c:v>
                </c:pt>
                <c:pt idx="30">
                  <c:v>3.860551075268817</c:v>
                </c:pt>
                <c:pt idx="31">
                  <c:v>4.032876712328767</c:v>
                </c:pt>
                <c:pt idx="32">
                  <c:v>4.0428359571070045</c:v>
                </c:pt>
                <c:pt idx="33">
                  <c:v>4.322057205720572</c:v>
                </c:pt>
                <c:pt idx="34">
                  <c:v>4.226013847675569</c:v>
                </c:pt>
                <c:pt idx="35">
                  <c:v>3.752932551319648</c:v>
                </c:pt>
                <c:pt idx="36">
                  <c:v>3.9448581560283684</c:v>
                </c:pt>
                <c:pt idx="37">
                  <c:v>4.168187347931873</c:v>
                </c:pt>
                <c:pt idx="38">
                  <c:v>4.043889648882809</c:v>
                </c:pt>
                <c:pt idx="39">
                  <c:v>3.8818316100443133</c:v>
                </c:pt>
                <c:pt idx="40">
                  <c:v>4.07909604519774</c:v>
                </c:pt>
                <c:pt idx="41">
                  <c:v>3.8260190664036813</c:v>
                </c:pt>
                <c:pt idx="42">
                  <c:v>4.199395576131687</c:v>
                </c:pt>
                <c:pt idx="43">
                  <c:v>4.121068114958136</c:v>
                </c:pt>
                <c:pt idx="44">
                  <c:v>4.086538461538461</c:v>
                </c:pt>
                <c:pt idx="45">
                  <c:v>3.875</c:v>
                </c:pt>
                <c:pt idx="46">
                  <c:v>4.419887278582931</c:v>
                </c:pt>
                <c:pt idx="47">
                  <c:v>4.0854810996563575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Average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Sheet1!$A$2:$A$14</c:f>
              <c:strCache>
                <c:ptCount val="13"/>
                <c:pt idx="0">
                  <c:v>I Language(à®®à¯à®¤à®²à¯ à®®à¯Šà®´à®¿à®ªà¯à®ªà®¾à®Ÿà®®à¯)</c:v>
                </c:pt>
                <c:pt idx="1">
                  <c:v>II Language(à®‡à®°à®£à¯à®Ÿà®¾à®®à¯ à®®à¯Šà®´à®¿à®ªà¯à®ªà®¾à®Ÿà®®à¯)</c:v>
                </c:pt>
                <c:pt idx="2">
                  <c:v>III Language(à®®à¯‚à®©à¯à®±à®¾à®®à¯ à®®à¯Šà®´à®¿à®ªà¯à®ªà®¾à®Ÿà®®à¯)</c:v>
                </c:pt>
                <c:pt idx="3">
                  <c:v>Mathematics(à®•à®£à®¿à®¤à®®à¯)</c:v>
                </c:pt>
                <c:pt idx="4">
                  <c:v>General Science(à®ªà¯Šà®¤à¯ à®…à®±à®¿à®µà®¿à®¯à®²à¯)</c:v>
                </c:pt>
                <c:pt idx="5">
                  <c:v>Social Studies(à®šà®®à¯‚à®• à®…à®±à®¿à®µà®¿à®¯à®²à¯)</c:v>
                </c:pt>
                <c:pt idx="6">
                  <c:v>Literacy ( English) Reading/writting/identification</c:v>
                </c:pt>
                <c:pt idx="7">
                  <c:v>Numeracy  (Math)</c:v>
                </c:pt>
                <c:pt idx="8">
                  <c:v>General awareness</c:v>
                </c:pt>
                <c:pt idx="9">
                  <c:v>Second language(NA for Pre K)</c:v>
                </c:pt>
                <c:pt idx="10">
                  <c:v>Physics(à®‡à®¯à®±à¯à®ªà®¿à®¯à®²à¯)</c:v>
                </c:pt>
                <c:pt idx="11">
                  <c:v>Chemistry(à®µà¯‡à®¤à®¿à®¯à®¿à®¯à®²à¯)</c:v>
                </c:pt>
                <c:pt idx="12">
                  <c:v>Biology(à®‰à®¯à®¿à®°à®¿à®¯à®²à¯)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4.398296276211135</c:v>
                </c:pt>
                <c:pt idx="1">
                  <c:v>4.2078433156661585</c:v>
                </c:pt>
                <c:pt idx="2">
                  <c:v>4.010297829379102</c:v>
                </c:pt>
                <c:pt idx="3">
                  <c:v>4.304505649076637</c:v>
                </c:pt>
                <c:pt idx="4">
                  <c:v>4.3994497145907765</c:v>
                </c:pt>
                <c:pt idx="5">
                  <c:v>4.298714664715031</c:v>
                </c:pt>
                <c:pt idx="6">
                  <c:v>4.578134651019147</c:v>
                </c:pt>
                <c:pt idx="7">
                  <c:v>4.5898054349573885</c:v>
                </c:pt>
                <c:pt idx="8">
                  <c:v>4.535575048732944</c:v>
                </c:pt>
                <c:pt idx="9">
                  <c:v>4.250048383975227</c:v>
                </c:pt>
                <c:pt idx="10">
                  <c:v>4.24582607804978</c:v>
                </c:pt>
                <c:pt idx="11">
                  <c:v>4.278128366938587</c:v>
                </c:pt>
                <c:pt idx="12">
                  <c:v>4.337516005121639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Concept Clarity</c:v>
                </c:pt>
                <c:pt idx="1">
                  <c:v>Teacher Approachability</c:v>
                </c:pt>
                <c:pt idx="2">
                  <c:v>Engagement</c:v>
                </c:pt>
                <c:pt idx="3">
                  <c:v>Communication Skills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4.269529711691919</c:v>
                </c:pt>
                <c:pt idx="1">
                  <c:v>4.4125050423557886</c:v>
                </c:pt>
                <c:pt idx="2">
                  <c:v>4.33379405666897</c:v>
                </c:pt>
                <c:pt idx="3">
                  <c:v>4.1839402821415765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PTM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Effective</c:v>
                </c:pt>
                <c:pt idx="1">
                  <c:v>Gap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4.413574467218954</c:v>
                </c:pt>
                <c:pt idx="1">
                  <c:v>0.5864255327810461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Leadership Access</c:v>
                </c:pt>
                <c:pt idx="1">
                  <c:v>Front Office Support</c:v>
                </c:pt>
                <c:pt idx="2">
                  <c:v>App Usability</c:v>
                </c:pt>
                <c:pt idx="3">
                  <c:v>Timely Updates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4.407635723166183</c:v>
                </c:pt>
                <c:pt idx="1">
                  <c:v>4.425470711297071</c:v>
                </c:pt>
                <c:pt idx="2">
                  <c:v>4.247917687408133</c:v>
                </c:pt>
                <c:pt idx="3">
                  <c:v>4.398358356278248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Sheet1!$A$2:$A$8</c:f>
              <c:strCache>
                <c:ptCount val="7"/>
                <c:pt idx="0">
                  <c:v>It is easy to get appoint</c:v>
                </c:pt>
                <c:pt idx="1">
                  <c:v>The Front Office team rec</c:v>
                </c:pt>
                <c:pt idx="2">
                  <c:v>Principal</c:v>
                </c:pt>
                <c:pt idx="3">
                  <c:v>Vice Principal</c:v>
                </c:pt>
                <c:pt idx="4">
                  <c:v>Academic Coordinator</c:v>
                </c:pt>
                <c:pt idx="5">
                  <c:v>Admin Team</c:v>
                </c:pt>
                <c:pt idx="6">
                  <c:v>Administration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4.407635723166183</c:v>
                </c:pt>
                <c:pt idx="1">
                  <c:v>4.425470711297071</c:v>
                </c:pt>
                <c:pt idx="2">
                  <c:v>4.462504663599055</c:v>
                </c:pt>
                <c:pt idx="3">
                  <c:v>4.36720052177694</c:v>
                </c:pt>
                <c:pt idx="4">
                  <c:v>4.4356188704768345</c:v>
                </c:pt>
                <c:pt idx="5">
                  <c:v>4.307357669756005</c:v>
                </c:pt>
                <c:pt idx="6">
                  <c:v>4.136848163347012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Not Applicable</c:v>
                </c:pt>
                <c:pt idx="3">
                  <c:v>Maybe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31966</c:v>
                </c:pt>
                <c:pt idx="1">
                  <c:v>19178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The school offers adequat</c:v>
                </c:pt>
                <c:pt idx="1">
                  <c:v>The safety measures imple</c:v>
                </c:pt>
                <c:pt idx="2">
                  <c:v>Campus hygiene and genera</c:v>
                </c:pt>
                <c:pt idx="3">
                  <c:v>The school provides adequ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4.177346698591778</c:v>
                </c:pt>
                <c:pt idx="1">
                  <c:v>4.133281127642913</c:v>
                </c:pt>
                <c:pt idx="2">
                  <c:v>3.9723413198823034</c:v>
                </c:pt>
                <c:pt idx="3">
                  <c:v>3.5242068684441965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Relationship Id="rId10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0.xml"/><Relationship Id="rId6" Type="http://schemas.openxmlformats.org/officeDocument/2006/relationships/slide" Target="slide12.xml"/><Relationship Id="rId7" Type="http://schemas.openxmlformats.org/officeDocument/2006/relationships/slide" Target="slide13.xml"/><Relationship Id="rId8" Type="http://schemas.openxmlformats.org/officeDocument/2006/relationships/slide" Target="slide4.xml"/><Relationship Id="rId9" Type="http://schemas.openxmlformats.org/officeDocument/2006/relationships/slide" Target="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slide" Target="slide13.xml"/><Relationship Id="rId1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F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richaitany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4408714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D700"/>
                </a:solidFill>
              </a:defRPr>
            </a:pPr>
            <a:r>
              <a:t>Pre-Primary Sri Chaitanya Techno Schools – Tamil Nadu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Academic &amp; Administrative Review • Academic Year: 2025–26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10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Dashboard Menu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73152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12064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Academic Quality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73152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Environment &amp; Safety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512064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3152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512064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731520" y="365760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Branch Comparison</a:t>
            </a:r>
          </a:p>
        </p:txBody>
      </p:sp>
      <p:sp>
        <p:nvSpPr>
          <p:cNvPr id="10" name="Rounded Rectangle 9">
            <a:hlinkClick action="ppaction://hlinksldjump" r:id="rId2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914400"/>
            <a:ext cx="2011680" cy="1005840"/>
          </a:xfrm>
          <a:prstGeom prst="roundRect">
            <a:avLst/>
          </a:prstGeom>
          <a:solidFill>
            <a:srgbClr val="EE5A6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Total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52541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914400"/>
            <a:ext cx="2011680" cy="1005840"/>
          </a:xfrm>
          <a:prstGeom prst="roundRect">
            <a:avLst/>
          </a:prstGeom>
          <a:solidFill>
            <a:srgbClr val="44A08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914400"/>
            <a:ext cx="2011680" cy="1005840"/>
          </a:xfrm>
          <a:prstGeom prst="roundRect">
            <a:avLst/>
          </a:prstGeom>
          <a:solidFill>
            <a:srgbClr val="F39C1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914400"/>
            <a:ext cx="2011680" cy="1005840"/>
          </a:xfrm>
          <a:prstGeom prst="roundRect">
            <a:avLst/>
          </a:prstGeom>
          <a:solidFill>
            <a:srgbClr val="341F9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19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Orientations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94560"/>
            <a:ext cx="4206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77440"/>
            <a:ext cx="36575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Overall Satisfaction by Category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2743200"/>
          <a:ext cx="3840480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4846320" y="2194560"/>
            <a:ext cx="384048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3774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Recommendation Status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029200" y="2743200"/>
          <a:ext cx="2011680" cy="2011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223760" y="27432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43A047"/>
                </a:solidFill>
              </a:defRPr>
            </a:pPr>
            <a:r>
              <a:t>Why 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0632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29.3%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33756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18.6%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611879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13.7%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0233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E53935"/>
                </a:solidFill>
              </a:defRPr>
            </a:pPr>
            <a:r>
              <a:t>Why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34340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29.1%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6177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16.1%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8920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13.9%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03520"/>
            <a:ext cx="82296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Branch-wise Overall Rating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640080" y="5669280"/>
          <a:ext cx="7863840" cy="914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2" name="Rounded Rectangle 31">
            <a:hlinkClick action="ppaction://hlinksldjump" r:id="rId5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34" name="Rounded Rectangle 33">
            <a:hlinkClick action="ppaction://hlinksldjump" r:id="rId7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35" name="Rounded Rectangle 34">
            <a:hlinkClick action="ppaction://hlinksldjump" r:id="rId8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36" name="Rounded Rectangle 35">
            <a:hlinkClick action="ppaction://hlinksldjump" r:id="rId9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37" name="Rounded Rectangle 36">
            <a:hlinkClick action="ppaction://hlinksldjump" r:id="rId10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38" name="Rounded Rectangle 37">
            <a:hlinkClick action="ppaction://hlinksldjump" r:id="rId11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39" name="Rounded Rectangle 38">
            <a:hlinkClick action="ppaction://hlinksldjump" r:id="rId12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40" name="Rounded Rectangle 39">
            <a:hlinkClick action="ppaction://hlinksldjump" r:id="rId5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Top 10 Branches (Overall)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Branch Recommendation %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Academics vs Infrastructure (Branch Scatter)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82296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8016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Teaching Indicators &amp; PTM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45720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760720" y="1371600"/>
          <a:ext cx="3474720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Environment Quality (Top Metrics)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feels secure while being on the school 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18872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4.47/5.0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shows interest and enthusiasm about atten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73736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4.44/5.0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Attending school has helped my child develop bette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28600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4.39/5.0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Moral values are effectively emphasized in the 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83464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4.33/5.0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9" name="Rounded Rectangle 18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Concern Handling &amp; Resolution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Strengths (Why Yes)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- 29.3%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- 18.6%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- 13.7%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- 10.9%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- 10.6%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Academics &amp; Activities - 6.1%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- 4.2%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Improvements (Why No)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- 29.1%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- 16.1%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- 13.9%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- 12.4%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- 8.5%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- 4.2%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794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No Concerns - 3.3%</a:t>
            </a:r>
          </a:p>
        </p:txBody>
      </p:sp>
      <p:sp>
        <p:nvSpPr>
          <p:cNvPr id="21" name="Rounded Rectangle 20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22" name="Rounded Rectangle 21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26" name="Rounded Rectangle 25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27" name="Rounded Rectangle 26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28" name="Rounded Rectangle 27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